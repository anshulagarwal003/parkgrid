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81B"/>
        </a:solidFill>
      </p:bgPr>
    </p:bg>
    <p:spTree>
      <p:nvGrpSpPr>
        <p:cNvPr id="1" name=""/>
        <p:cNvGrpSpPr/>
        <p:nvPr/>
      </p:nvGrpSpPr>
      <p:grpSpPr>
        <a:xfrm>
          <a:off x="0" y="0"/>
          <a:ext cx="0" cy="0"/>
          <a:chOff x="0" y="0"/>
          <a:chExt cx="0" cy="0"/>
        </a:xfrm>
      </p:grpSpPr>
      <p:sp>
        <p:nvSpPr>
          <p:cNvPr id="2" name="Text 0"/>
          <p:cNvSpPr/>
          <p:nvPr/>
        </p:nvSpPr>
        <p:spPr>
          <a:xfrm>
            <a:off x="530352" y="1061145"/>
            <a:ext cx="8083296" cy="1188690"/>
          </a:xfrm>
          <a:prstGeom prst="rect">
            <a:avLst/>
          </a:prstGeom>
          <a:noFill/>
          <a:ln/>
        </p:spPr>
        <p:txBody>
          <a:bodyPr wrap="square" lIns="0" tIns="0" rIns="0" bIns="0" rtlCol="0" anchor="t"/>
          <a:lstStyle/>
          <a:p>
            <a:pPr algn="ctr" indent="0" marL="0">
              <a:lnSpc>
                <a:spcPts val="9360"/>
              </a:lnSpc>
              <a:buNone/>
            </a:pPr>
            <a:r>
              <a:rPr lang="en-US" sz="6240" dirty="0">
                <a:solidFill>
                  <a:srgbClr val="F97316"/>
                </a:solidFill>
                <a:latin typeface="Archivo Black" pitchFamily="34" charset="0"/>
                <a:ea typeface="Archivo Black" pitchFamily="34" charset="-122"/>
                <a:cs typeface="Archivo Black" pitchFamily="34" charset="-120"/>
              </a:rPr>
              <a:t>ParkGrid</a:t>
            </a:r>
            <a:endParaRPr lang="en-US" sz="6240" dirty="0"/>
          </a:p>
        </p:txBody>
      </p:sp>
      <p:sp>
        <p:nvSpPr>
          <p:cNvPr id="3" name="Text 1"/>
          <p:cNvSpPr/>
          <p:nvPr/>
        </p:nvSpPr>
        <p:spPr>
          <a:xfrm>
            <a:off x="914400" y="2402235"/>
            <a:ext cx="7315200" cy="994321"/>
          </a:xfrm>
          <a:prstGeom prst="rect">
            <a:avLst/>
          </a:prstGeom>
          <a:noFill/>
          <a:ln/>
        </p:spPr>
        <p:txBody>
          <a:bodyPr wrap="square" lIns="0" tIns="0" rIns="0" bIns="0" rtlCol="0" anchor="t"/>
          <a:lstStyle/>
          <a:p>
            <a:pPr algn="ctr" indent="0" marL="0">
              <a:lnSpc>
                <a:spcPts val="2610"/>
              </a:lnSpc>
              <a:buNone/>
            </a:pPr>
            <a:r>
              <a:rPr lang="en-US" sz="1740" dirty="0">
                <a:solidFill>
                  <a:srgbClr val="D4D4D8"/>
                </a:solidFill>
                <a:latin typeface="DM Sans" pitchFamily="34" charset="0"/>
                <a:ea typeface="DM Sans" pitchFamily="34" charset="-122"/>
                <a:cs typeface="DM Sans" pitchFamily="34" charset="-120"/>
              </a:rPr>
              <a:t>A parking discovery layer that helps drivers find the closest meter now, and in v2 compares nearby marketplace inventory to surface the best price fast.</a:t>
            </a:r>
            <a:endParaRPr lang="en-US" sz="1740" dirty="0"/>
          </a:p>
        </p:txBody>
      </p:sp>
      <p:sp>
        <p:nvSpPr>
          <p:cNvPr id="4" name="Text 2"/>
          <p:cNvSpPr/>
          <p:nvPr/>
        </p:nvSpPr>
        <p:spPr>
          <a:xfrm>
            <a:off x="609600" y="3625155"/>
            <a:ext cx="7924800" cy="457200"/>
          </a:xfrm>
          <a:prstGeom prst="rect">
            <a:avLst/>
          </a:prstGeom>
          <a:noFill/>
          <a:ln/>
        </p:spPr>
        <p:txBody>
          <a:bodyPr wrap="square" lIns="0" tIns="0" rIns="0" bIns="0" rtlCol="0" anchor="t"/>
          <a:lstStyle/>
          <a:p>
            <a:pPr algn="ctr" indent="0" marL="0">
              <a:lnSpc>
                <a:spcPts val="1800"/>
              </a:lnSpc>
              <a:buNone/>
            </a:pPr>
            <a:r>
              <a:rPr lang="en-US" sz="1200" dirty="0">
                <a:solidFill>
                  <a:srgbClr val="A1A1AA"/>
                </a:solidFill>
                <a:latin typeface="DM Sans" pitchFamily="34" charset="0"/>
                <a:ea typeface="DM Sans" pitchFamily="34" charset="-122"/>
                <a:cs typeface="DM Sans" pitchFamily="34" charset="-120"/>
              </a:rPr>
              <a:t>Boston parking search • route optimization • marketplace referrals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81B"/>
        </a:solidFill>
      </p:bgPr>
    </p:bg>
    <p:spTree>
      <p:nvGrpSpPr>
        <p:cNvPr id="1" name=""/>
        <p:cNvGrpSpPr/>
        <p:nvPr/>
      </p:nvGrpSpPr>
      <p:grpSpPr>
        <a:xfrm>
          <a:off x="0" y="0"/>
          <a:ext cx="0" cy="0"/>
          <a:chOff x="0" y="0"/>
          <a:chExt cx="0" cy="0"/>
        </a:xfrm>
      </p:grpSpPr>
      <p:sp>
        <p:nvSpPr>
          <p:cNvPr id="2" name="Text 0"/>
          <p:cNvSpPr/>
          <p:nvPr/>
        </p:nvSpPr>
        <p:spPr>
          <a:xfrm>
            <a:off x="609600" y="1704975"/>
            <a:ext cx="2489150" cy="2724150"/>
          </a:xfrm>
          <a:prstGeom prst="roundRect">
            <a:avLst>
              <a:gd name="adj" fmla="val 8816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3" name="Text 1"/>
          <p:cNvSpPr/>
          <p:nvPr/>
        </p:nvSpPr>
        <p:spPr>
          <a:xfrm>
            <a:off x="3327350" y="1704975"/>
            <a:ext cx="2489150" cy="2724150"/>
          </a:xfrm>
          <a:prstGeom prst="roundRect">
            <a:avLst>
              <a:gd name="adj" fmla="val 88165"/>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6045101" y="1704975"/>
            <a:ext cx="2489299" cy="2724150"/>
          </a:xfrm>
          <a:prstGeom prst="roundRect">
            <a:avLst>
              <a:gd name="adj" fmla="val 8816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609600" y="714375"/>
            <a:ext cx="8083296" cy="685800"/>
          </a:xfrm>
          <a:prstGeom prst="rect">
            <a:avLst/>
          </a:prstGeom>
          <a:noFill/>
          <a:ln/>
        </p:spPr>
        <p:txBody>
          <a:bodyPr wrap="square" lIns="0" tIns="0" rIns="0" bIns="0" rtlCol="0" anchor="t"/>
          <a:lstStyle/>
          <a:p>
            <a:pPr indent="0" marL="0">
              <a:lnSpc>
                <a:spcPts val="5400"/>
              </a:lnSpc>
              <a:buNone/>
            </a:pPr>
            <a:r>
              <a:rPr lang="en-US" sz="3600" dirty="0">
                <a:solidFill>
                  <a:srgbClr val="FAFAFA"/>
                </a:solidFill>
                <a:latin typeface="Archivo Black" pitchFamily="34" charset="0"/>
                <a:ea typeface="Archivo Black" pitchFamily="34" charset="-122"/>
                <a:cs typeface="Archivo Black" pitchFamily="34" charset="-120"/>
              </a:rPr>
              <a:t>Problem</a:t>
            </a:r>
            <a:endParaRPr lang="en-US" sz="3600" dirty="0"/>
          </a:p>
        </p:txBody>
      </p:sp>
      <p:sp>
        <p:nvSpPr>
          <p:cNvPr id="6" name="Text 4"/>
          <p:cNvSpPr/>
          <p:nvPr/>
        </p:nvSpPr>
        <p:spPr>
          <a:xfrm>
            <a:off x="847725" y="1943100"/>
            <a:ext cx="2053158" cy="381000"/>
          </a:xfrm>
          <a:prstGeom prst="rect">
            <a:avLst/>
          </a:prstGeom>
          <a:noFill/>
          <a:ln/>
        </p:spPr>
        <p:txBody>
          <a:bodyPr wrap="square" lIns="0" tIns="0" rIns="0" bIns="0" rtlCol="0" anchor="t"/>
          <a:lstStyle/>
          <a:p>
            <a:pPr indent="0" marL="0">
              <a:lnSpc>
                <a:spcPts val="3000"/>
              </a:lnSpc>
              <a:buNone/>
            </a:pPr>
            <a:r>
              <a:rPr lang="en-US" sz="2700" dirty="0">
                <a:solidFill>
                  <a:srgbClr val="FAFAFA"/>
                </a:solidFill>
                <a:latin typeface="DM Sans" pitchFamily="34" charset="0"/>
                <a:ea typeface="DM Sans" pitchFamily="34" charset="-122"/>
                <a:cs typeface="DM Sans" pitchFamily="34" charset="-120"/>
              </a:rPr>
              <a:t>⏱️</a:t>
            </a:r>
            <a:endParaRPr lang="en-US" sz="2700" dirty="0"/>
          </a:p>
        </p:txBody>
      </p:sp>
      <p:sp>
        <p:nvSpPr>
          <p:cNvPr id="7" name="Text 5"/>
          <p:cNvSpPr/>
          <p:nvPr/>
        </p:nvSpPr>
        <p:spPr>
          <a:xfrm>
            <a:off x="847725" y="2438400"/>
            <a:ext cx="2012900" cy="533400"/>
          </a:xfrm>
          <a:prstGeom prst="rect">
            <a:avLst/>
          </a:prstGeom>
          <a:noFill/>
          <a:ln/>
        </p:spPr>
        <p:txBody>
          <a:bodyPr wrap="square" lIns="0" tIns="0" rIns="0" bIns="0" rtlCol="0" anchor="t"/>
          <a:lstStyle/>
          <a:p>
            <a:pPr indent="0" marL="0">
              <a:lnSpc>
                <a:spcPts val="2100"/>
              </a:lnSpc>
              <a:buNone/>
            </a:pPr>
            <a:r>
              <a:rPr lang="en-US" sz="1500" b="1" dirty="0">
                <a:solidFill>
                  <a:srgbClr val="FAFAFA"/>
                </a:solidFill>
                <a:latin typeface="DM Sans" pitchFamily="34" charset="0"/>
                <a:ea typeface="DM Sans" pitchFamily="34" charset="-122"/>
                <a:cs typeface="DM Sans" pitchFamily="34" charset="-120"/>
              </a:rPr>
              <a:t>Parking search is wasted time</a:t>
            </a:r>
            <a:endParaRPr lang="en-US" sz="1500" dirty="0"/>
          </a:p>
        </p:txBody>
      </p:sp>
      <p:sp>
        <p:nvSpPr>
          <p:cNvPr id="8" name="Text 6"/>
          <p:cNvSpPr/>
          <p:nvPr/>
        </p:nvSpPr>
        <p:spPr>
          <a:xfrm>
            <a:off x="847725" y="3048000"/>
            <a:ext cx="2012900" cy="1143000"/>
          </a:xfrm>
          <a:prstGeom prst="rect">
            <a:avLst/>
          </a:prstGeom>
          <a:noFill/>
          <a:ln/>
        </p:spPr>
        <p:txBody>
          <a:bodyPr wrap="square" lIns="0" tIns="0" rIns="0" bIns="0" rtlCol="0" anchor="t"/>
          <a:lstStyle/>
          <a:p>
            <a:pPr indent="0" marL="0">
              <a:lnSpc>
                <a:spcPts val="1800"/>
              </a:lnSpc>
              <a:buNone/>
            </a:pPr>
            <a:r>
              <a:rPr lang="en-US" sz="1200" dirty="0">
                <a:solidFill>
                  <a:srgbClr val="D4D4D8"/>
                </a:solidFill>
                <a:latin typeface="DM Sans" pitchFamily="34" charset="0"/>
                <a:ea typeface="DM Sans" pitchFamily="34" charset="-122"/>
                <a:cs typeface="DM Sans" pitchFamily="34" charset="-120"/>
              </a:rPr>
              <a:t>Drivers still bounce between streets, meters, and apps when they need a spot immediately near a destination.</a:t>
            </a:r>
            <a:endParaRPr lang="en-US" sz="1200" dirty="0"/>
          </a:p>
        </p:txBody>
      </p:sp>
      <p:sp>
        <p:nvSpPr>
          <p:cNvPr id="9" name="Text 7"/>
          <p:cNvSpPr/>
          <p:nvPr/>
        </p:nvSpPr>
        <p:spPr>
          <a:xfrm>
            <a:off x="3565475" y="1943100"/>
            <a:ext cx="2053158" cy="381000"/>
          </a:xfrm>
          <a:prstGeom prst="rect">
            <a:avLst/>
          </a:prstGeom>
          <a:noFill/>
          <a:ln/>
        </p:spPr>
        <p:txBody>
          <a:bodyPr wrap="square" lIns="0" tIns="0" rIns="0" bIns="0" rtlCol="0" anchor="t"/>
          <a:lstStyle/>
          <a:p>
            <a:pPr indent="0" marL="0">
              <a:lnSpc>
                <a:spcPts val="3000"/>
              </a:lnSpc>
              <a:buNone/>
            </a:pPr>
            <a:r>
              <a:rPr lang="en-US" sz="2700" dirty="0">
                <a:solidFill>
                  <a:srgbClr val="FAFAFA"/>
                </a:solidFill>
                <a:latin typeface="DM Sans" pitchFamily="34" charset="0"/>
                <a:ea typeface="DM Sans" pitchFamily="34" charset="-122"/>
                <a:cs typeface="DM Sans" pitchFamily="34" charset="-120"/>
              </a:rPr>
              <a:t>🧩</a:t>
            </a:r>
            <a:endParaRPr lang="en-US" sz="2700" dirty="0"/>
          </a:p>
        </p:txBody>
      </p:sp>
      <p:sp>
        <p:nvSpPr>
          <p:cNvPr id="10" name="Text 8"/>
          <p:cNvSpPr/>
          <p:nvPr/>
        </p:nvSpPr>
        <p:spPr>
          <a:xfrm>
            <a:off x="3565475" y="2438400"/>
            <a:ext cx="2053158" cy="266700"/>
          </a:xfrm>
          <a:prstGeom prst="rect">
            <a:avLst/>
          </a:prstGeom>
          <a:noFill/>
          <a:ln/>
        </p:spPr>
        <p:txBody>
          <a:bodyPr wrap="square" lIns="0" tIns="0" rIns="0" bIns="0" rtlCol="0" anchor="t"/>
          <a:lstStyle/>
          <a:p>
            <a:pPr indent="0" marL="0">
              <a:lnSpc>
                <a:spcPts val="2100"/>
              </a:lnSpc>
              <a:buNone/>
            </a:pPr>
            <a:r>
              <a:rPr lang="en-US" sz="1500" b="1" dirty="0">
                <a:solidFill>
                  <a:srgbClr val="FAFAFA"/>
                </a:solidFill>
                <a:latin typeface="DM Sans" pitchFamily="34" charset="0"/>
                <a:ea typeface="DM Sans" pitchFamily="34" charset="-122"/>
                <a:cs typeface="DM Sans" pitchFamily="34" charset="-120"/>
              </a:rPr>
              <a:t>Pricing is fragmented</a:t>
            </a:r>
            <a:endParaRPr lang="en-US" sz="1500" dirty="0"/>
          </a:p>
        </p:txBody>
      </p:sp>
      <p:sp>
        <p:nvSpPr>
          <p:cNvPr id="11" name="Text 9"/>
          <p:cNvSpPr/>
          <p:nvPr/>
        </p:nvSpPr>
        <p:spPr>
          <a:xfrm>
            <a:off x="3565475" y="2781300"/>
            <a:ext cx="2012900" cy="1143000"/>
          </a:xfrm>
          <a:prstGeom prst="rect">
            <a:avLst/>
          </a:prstGeom>
          <a:noFill/>
          <a:ln/>
        </p:spPr>
        <p:txBody>
          <a:bodyPr wrap="square" lIns="0" tIns="0" rIns="0" bIns="0" rtlCol="0" anchor="t"/>
          <a:lstStyle/>
          <a:p>
            <a:pPr indent="0" marL="0">
              <a:lnSpc>
                <a:spcPts val="1800"/>
              </a:lnSpc>
              <a:buNone/>
            </a:pPr>
            <a:r>
              <a:rPr lang="en-US" sz="1200" dirty="0">
                <a:solidFill>
                  <a:srgbClr val="D4D4D8"/>
                </a:solidFill>
                <a:latin typeface="DM Sans" pitchFamily="34" charset="0"/>
                <a:ea typeface="DM Sans" pitchFamily="34" charset="-122"/>
                <a:cs typeface="DM Sans" pitchFamily="34" charset="-120"/>
              </a:rPr>
              <a:t>Street meters, garages, and parking apps expose different inventory and prices in separate interfaces.</a:t>
            </a:r>
            <a:endParaRPr lang="en-US" sz="1200" dirty="0"/>
          </a:p>
        </p:txBody>
      </p:sp>
      <p:sp>
        <p:nvSpPr>
          <p:cNvPr id="12" name="Text 10"/>
          <p:cNvSpPr/>
          <p:nvPr/>
        </p:nvSpPr>
        <p:spPr>
          <a:xfrm>
            <a:off x="6283226" y="1943100"/>
            <a:ext cx="2053310" cy="381000"/>
          </a:xfrm>
          <a:prstGeom prst="rect">
            <a:avLst/>
          </a:prstGeom>
          <a:noFill/>
          <a:ln/>
        </p:spPr>
        <p:txBody>
          <a:bodyPr wrap="square" lIns="0" tIns="0" rIns="0" bIns="0" rtlCol="0" anchor="t"/>
          <a:lstStyle/>
          <a:p>
            <a:pPr indent="0" marL="0">
              <a:lnSpc>
                <a:spcPts val="3000"/>
              </a:lnSpc>
              <a:buNone/>
            </a:pPr>
            <a:r>
              <a:rPr lang="en-US" sz="2700" dirty="0">
                <a:solidFill>
                  <a:srgbClr val="FAFAFA"/>
                </a:solidFill>
                <a:latin typeface="DM Sans" pitchFamily="34" charset="0"/>
                <a:ea typeface="DM Sans" pitchFamily="34" charset="-122"/>
                <a:cs typeface="DM Sans" pitchFamily="34" charset="-120"/>
              </a:rPr>
              <a:t>📱</a:t>
            </a:r>
            <a:endParaRPr lang="en-US" sz="2700" dirty="0"/>
          </a:p>
        </p:txBody>
      </p:sp>
      <p:sp>
        <p:nvSpPr>
          <p:cNvPr id="13" name="Text 11"/>
          <p:cNvSpPr/>
          <p:nvPr/>
        </p:nvSpPr>
        <p:spPr>
          <a:xfrm>
            <a:off x="6283226" y="2438400"/>
            <a:ext cx="2013049" cy="533400"/>
          </a:xfrm>
          <a:prstGeom prst="rect">
            <a:avLst/>
          </a:prstGeom>
          <a:noFill/>
          <a:ln/>
        </p:spPr>
        <p:txBody>
          <a:bodyPr wrap="square" lIns="0" tIns="0" rIns="0" bIns="0" rtlCol="0" anchor="t"/>
          <a:lstStyle/>
          <a:p>
            <a:pPr indent="0" marL="0">
              <a:lnSpc>
                <a:spcPts val="2100"/>
              </a:lnSpc>
              <a:buNone/>
            </a:pPr>
            <a:r>
              <a:rPr lang="en-US" sz="1500" b="1" dirty="0">
                <a:solidFill>
                  <a:srgbClr val="FAFAFA"/>
                </a:solidFill>
                <a:latin typeface="DM Sans" pitchFamily="34" charset="0"/>
                <a:ea typeface="DM Sans" pitchFamily="34" charset="-122"/>
                <a:cs typeface="DM Sans" pitchFamily="34" charset="-120"/>
              </a:rPr>
              <a:t>Users want one decision surface</a:t>
            </a:r>
            <a:endParaRPr lang="en-US" sz="1500" dirty="0"/>
          </a:p>
        </p:txBody>
      </p:sp>
      <p:sp>
        <p:nvSpPr>
          <p:cNvPr id="14" name="Text 12"/>
          <p:cNvSpPr/>
          <p:nvPr/>
        </p:nvSpPr>
        <p:spPr>
          <a:xfrm>
            <a:off x="6283226" y="3048000"/>
            <a:ext cx="2013049" cy="1143000"/>
          </a:xfrm>
          <a:prstGeom prst="rect">
            <a:avLst/>
          </a:prstGeom>
          <a:noFill/>
          <a:ln/>
        </p:spPr>
        <p:txBody>
          <a:bodyPr wrap="square" lIns="0" tIns="0" rIns="0" bIns="0" rtlCol="0" anchor="t"/>
          <a:lstStyle/>
          <a:p>
            <a:pPr indent="0" marL="0">
              <a:lnSpc>
                <a:spcPts val="1800"/>
              </a:lnSpc>
              <a:buNone/>
            </a:pPr>
            <a:r>
              <a:rPr lang="en-US" sz="1200" dirty="0">
                <a:solidFill>
                  <a:srgbClr val="D4D4D8"/>
                </a:solidFill>
                <a:latin typeface="DM Sans" pitchFamily="34" charset="0"/>
                <a:ea typeface="DM Sans" pitchFamily="34" charset="-122"/>
                <a:cs typeface="DM Sans" pitchFamily="34" charset="-120"/>
              </a:rPr>
              <a:t>The best experience is not another map alone; it is the fastest route to the cheapest acceptable spot nearby.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81B"/>
        </a:solidFill>
      </p:bgPr>
    </p:bg>
    <p:spTree>
      <p:nvGrpSpPr>
        <p:cNvPr id="1" name=""/>
        <p:cNvGrpSpPr/>
        <p:nvPr/>
      </p:nvGrpSpPr>
      <p:grpSpPr>
        <a:xfrm>
          <a:off x="0" y="0"/>
          <a:ext cx="0" cy="0"/>
          <a:chOff x="0" y="0"/>
          <a:chExt cx="0" cy="0"/>
        </a:xfrm>
      </p:grpSpPr>
      <p:sp>
        <p:nvSpPr>
          <p:cNvPr id="2" name="Text 0"/>
          <p:cNvSpPr/>
          <p:nvPr/>
        </p:nvSpPr>
        <p:spPr>
          <a:xfrm>
            <a:off x="609600" y="3457575"/>
            <a:ext cx="1809750" cy="1924050"/>
          </a:xfrm>
          <a:prstGeom prst="roundRect">
            <a:avLst>
              <a:gd name="adj" fmla="val 121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3" name="Text 1"/>
          <p:cNvSpPr/>
          <p:nvPr/>
        </p:nvSpPr>
        <p:spPr>
          <a:xfrm>
            <a:off x="2571750" y="3457575"/>
            <a:ext cx="1809750" cy="1924050"/>
          </a:xfrm>
          <a:prstGeom prst="roundRect">
            <a:avLst>
              <a:gd name="adj" fmla="val 121263"/>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762500" y="1085850"/>
            <a:ext cx="3771900" cy="2971800"/>
          </a:xfrm>
          <a:prstGeom prst="roundRect">
            <a:avLst>
              <a:gd name="adj" fmla="val 73846"/>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5" name="Text 3"/>
          <p:cNvSpPr/>
          <p:nvPr/>
        </p:nvSpPr>
        <p:spPr>
          <a:xfrm>
            <a:off x="5057775" y="2028825"/>
            <a:ext cx="31813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6" name="Text 4"/>
          <p:cNvSpPr/>
          <p:nvPr/>
        </p:nvSpPr>
        <p:spPr>
          <a:xfrm>
            <a:off x="5057775" y="2924175"/>
            <a:ext cx="31813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7" name="Text 5"/>
          <p:cNvSpPr/>
          <p:nvPr/>
        </p:nvSpPr>
        <p:spPr>
          <a:xfrm>
            <a:off x="5057775" y="3590925"/>
            <a:ext cx="3181350" cy="171450"/>
          </a:xfrm>
          <a:prstGeom prst="roundRect">
            <a:avLst>
              <a:gd name="adj" fmla="val 53280000"/>
            </a:avLst>
          </a:prstGeom>
          <a:solidFill>
            <a:srgbClr val="FFFFFF">
              <a:alpha val="8000"/>
            </a:srgbClr>
          </a:solidFill>
          <a:ln/>
        </p:spPr>
        <p:txBody>
          <a:bodyPr wrap="none" lIns="0" tIns="0" rIns="0" bIns="0" rtlCol="0" anchor="ctr">
            <a:normAutofit/>
          </a:bodyPr>
          <a:lstStyle/>
          <a:p>
            <a:pPr indent="0" marL="0">
              <a:buNone/>
            </a:pPr>
            <a:endParaRPr lang="en-US" dirty="0"/>
          </a:p>
        </p:txBody>
      </p:sp>
      <p:sp>
        <p:nvSpPr>
          <p:cNvPr id="8" name="Text 6"/>
          <p:cNvSpPr/>
          <p:nvPr/>
        </p:nvSpPr>
        <p:spPr>
          <a:xfrm>
            <a:off x="609600" y="-238125"/>
            <a:ext cx="3847338" cy="228600"/>
          </a:xfrm>
          <a:prstGeom prst="rect">
            <a:avLst/>
          </a:prstGeom>
          <a:noFill/>
          <a:ln/>
        </p:spPr>
        <p:txBody>
          <a:bodyPr wrap="square" lIns="0" tIns="0" rIns="0" bIns="0" rtlCol="0" anchor="t"/>
          <a:lstStyle/>
          <a:p>
            <a:pPr indent="0" marL="0">
              <a:lnSpc>
                <a:spcPts val="1800"/>
              </a:lnSpc>
              <a:buNone/>
            </a:pPr>
            <a:r>
              <a:rPr lang="en-US" sz="1200" dirty="0">
                <a:solidFill>
                  <a:srgbClr val="A1A1AA"/>
                </a:solidFill>
                <a:latin typeface="DM Sans" pitchFamily="34" charset="0"/>
                <a:ea typeface="DM Sans" pitchFamily="34" charset="-122"/>
                <a:cs typeface="DM Sans" pitchFamily="34" charset="-120"/>
              </a:rPr>
              <a:t>Current product</a:t>
            </a:r>
            <a:endParaRPr lang="en-US" sz="1200" dirty="0"/>
          </a:p>
        </p:txBody>
      </p:sp>
      <p:sp>
        <p:nvSpPr>
          <p:cNvPr id="9" name="Text 7"/>
          <p:cNvSpPr/>
          <p:nvPr/>
        </p:nvSpPr>
        <p:spPr>
          <a:xfrm>
            <a:off x="609600" y="104775"/>
            <a:ext cx="3771900" cy="1371600"/>
          </a:xfrm>
          <a:prstGeom prst="rect">
            <a:avLst/>
          </a:prstGeom>
          <a:noFill/>
          <a:ln/>
        </p:spPr>
        <p:txBody>
          <a:bodyPr wrap="square" lIns="0" tIns="0" rIns="0" bIns="0" rtlCol="0" anchor="t"/>
          <a:lstStyle/>
          <a:p>
            <a:pPr indent="0" marL="0">
              <a:lnSpc>
                <a:spcPts val="5400"/>
              </a:lnSpc>
              <a:buNone/>
            </a:pPr>
            <a:r>
              <a:rPr lang="en-US" sz="3600" dirty="0">
                <a:solidFill>
                  <a:srgbClr val="FAFAFA"/>
                </a:solidFill>
                <a:latin typeface="Archivo Black" pitchFamily="34" charset="0"/>
                <a:ea typeface="Archivo Black" pitchFamily="34" charset="-122"/>
                <a:cs typeface="Archivo Black" pitchFamily="34" charset="-120"/>
              </a:rPr>
              <a:t>What ParkGrid already does</a:t>
            </a:r>
            <a:endParaRPr lang="en-US" sz="3600" dirty="0"/>
          </a:p>
        </p:txBody>
      </p:sp>
      <p:sp>
        <p:nvSpPr>
          <p:cNvPr id="10" name="Text 8"/>
          <p:cNvSpPr/>
          <p:nvPr/>
        </p:nvSpPr>
        <p:spPr>
          <a:xfrm>
            <a:off x="609600" y="1628775"/>
            <a:ext cx="3771900" cy="1600200"/>
          </a:xfrm>
          <a:prstGeom prst="rect">
            <a:avLst/>
          </a:prstGeom>
          <a:noFill/>
          <a:ln/>
        </p:spPr>
        <p:txBody>
          <a:bodyPr wrap="square" lIns="0" tIns="0" rIns="0" bIns="0" rtlCol="0" anchor="t"/>
          <a:lstStyle/>
          <a:p>
            <a:pPr indent="0" marL="0">
              <a:lnSpc>
                <a:spcPts val="2100"/>
              </a:lnSpc>
              <a:buNone/>
            </a:pPr>
            <a:r>
              <a:rPr lang="en-US" sz="1350" dirty="0">
                <a:solidFill>
                  <a:srgbClr val="D4D4D8"/>
                </a:solidFill>
                <a:latin typeface="DM Sans" pitchFamily="34" charset="0"/>
                <a:ea typeface="DM Sans" pitchFamily="34" charset="-122"/>
                <a:cs typeface="DM Sans" pitchFamily="34" charset="-120"/>
              </a:rPr>
              <a:t>The repo is a Streamlit app that reads Boston parking meter data, computes distance with a Haversine function, filters by user-selected radius, and returns the nearest parking options with rate, hours, max time, slot count, and Google Maps navigation.</a:t>
            </a:r>
            <a:endParaRPr lang="en-US" sz="1350" dirty="0"/>
          </a:p>
        </p:txBody>
      </p:sp>
      <p:sp>
        <p:nvSpPr>
          <p:cNvPr id="11" name="Text 9"/>
          <p:cNvSpPr/>
          <p:nvPr/>
        </p:nvSpPr>
        <p:spPr>
          <a:xfrm>
            <a:off x="847725" y="3695700"/>
            <a:ext cx="1360170"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a:t>
            </a:r>
            <a:endParaRPr lang="en-US" sz="2250" dirty="0"/>
          </a:p>
        </p:txBody>
      </p:sp>
      <p:sp>
        <p:nvSpPr>
          <p:cNvPr id="12" name="Text 10"/>
          <p:cNvSpPr/>
          <p:nvPr/>
        </p:nvSpPr>
        <p:spPr>
          <a:xfrm>
            <a:off x="847725" y="4114800"/>
            <a:ext cx="1333500" cy="4572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Location-based search</a:t>
            </a:r>
            <a:endParaRPr lang="en-US" sz="1200" dirty="0"/>
          </a:p>
        </p:txBody>
      </p:sp>
      <p:sp>
        <p:nvSpPr>
          <p:cNvPr id="13" name="Text 11"/>
          <p:cNvSpPr/>
          <p:nvPr/>
        </p:nvSpPr>
        <p:spPr>
          <a:xfrm>
            <a:off x="847725" y="4572000"/>
            <a:ext cx="1333500" cy="571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Lat/lon input with a 0.25 km to 5 km search radius.</a:t>
            </a:r>
            <a:endParaRPr lang="en-US" sz="1050" dirty="0"/>
          </a:p>
        </p:txBody>
      </p:sp>
      <p:sp>
        <p:nvSpPr>
          <p:cNvPr id="14" name="Text 12"/>
          <p:cNvSpPr/>
          <p:nvPr/>
        </p:nvSpPr>
        <p:spPr>
          <a:xfrm>
            <a:off x="2809875" y="3695700"/>
            <a:ext cx="1360170"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a:t>
            </a:r>
            <a:endParaRPr lang="en-US" sz="2250" dirty="0"/>
          </a:p>
        </p:txBody>
      </p:sp>
      <p:sp>
        <p:nvSpPr>
          <p:cNvPr id="15" name="Text 13"/>
          <p:cNvSpPr/>
          <p:nvPr/>
        </p:nvSpPr>
        <p:spPr>
          <a:xfrm>
            <a:off x="2809875" y="4114800"/>
            <a:ext cx="1360170" cy="2286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Maps routing</a:t>
            </a:r>
            <a:endParaRPr lang="en-US" sz="1200" dirty="0"/>
          </a:p>
        </p:txBody>
      </p:sp>
      <p:sp>
        <p:nvSpPr>
          <p:cNvPr id="16" name="Text 14"/>
          <p:cNvSpPr/>
          <p:nvPr/>
        </p:nvSpPr>
        <p:spPr>
          <a:xfrm>
            <a:off x="2809875" y="4343400"/>
            <a:ext cx="1333500" cy="571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Single-stop and multi-stop Google Maps directions links.</a:t>
            </a:r>
            <a:endParaRPr lang="en-US" sz="1050" dirty="0"/>
          </a:p>
        </p:txBody>
      </p:sp>
      <p:sp>
        <p:nvSpPr>
          <p:cNvPr id="17" name="Text 15"/>
          <p:cNvSpPr/>
          <p:nvPr/>
        </p:nvSpPr>
        <p:spPr>
          <a:xfrm>
            <a:off x="5057775" y="1381125"/>
            <a:ext cx="3244977" cy="190500"/>
          </a:xfrm>
          <a:prstGeom prst="rect">
            <a:avLst/>
          </a:prstGeom>
          <a:noFill/>
          <a:ln/>
        </p:spPr>
        <p:txBody>
          <a:bodyPr wrap="square" lIns="0" tIns="0" rIns="0" bIns="0" rtlCol="0" anchor="t"/>
          <a:lstStyle/>
          <a:p>
            <a:pPr indent="0" marL="0">
              <a:lnSpc>
                <a:spcPts val="1500"/>
              </a:lnSpc>
              <a:buNone/>
            </a:pPr>
            <a:r>
              <a:rPr lang="en-US" sz="1050" dirty="0">
                <a:solidFill>
                  <a:srgbClr val="A1A1AA"/>
                </a:solidFill>
                <a:latin typeface="DM Sans" pitchFamily="34" charset="0"/>
                <a:ea typeface="DM Sans" pitchFamily="34" charset="-122"/>
                <a:cs typeface="DM Sans" pitchFamily="34" charset="-120"/>
              </a:rPr>
              <a:t>User value today</a:t>
            </a:r>
            <a:endParaRPr lang="en-US" sz="1050" dirty="0"/>
          </a:p>
        </p:txBody>
      </p:sp>
      <p:sp>
        <p:nvSpPr>
          <p:cNvPr id="18" name="Text 16"/>
          <p:cNvSpPr/>
          <p:nvPr/>
        </p:nvSpPr>
        <p:spPr>
          <a:xfrm>
            <a:off x="5057775" y="1724025"/>
            <a:ext cx="1457325" cy="2286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Closest spot ranking</a:t>
            </a:r>
            <a:endParaRPr lang="en-US" sz="1200" dirty="0"/>
          </a:p>
        </p:txBody>
      </p:sp>
      <p:sp>
        <p:nvSpPr>
          <p:cNvPr id="19" name="Text 17"/>
          <p:cNvSpPr/>
          <p:nvPr/>
        </p:nvSpPr>
        <p:spPr>
          <a:xfrm>
            <a:off x="7334250" y="1724025"/>
            <a:ext cx="922973" cy="2286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live compute</a:t>
            </a:r>
            <a:endParaRPr lang="en-US" sz="1200" dirty="0"/>
          </a:p>
        </p:txBody>
      </p:sp>
      <p:sp>
        <p:nvSpPr>
          <p:cNvPr id="20" name="Text 18"/>
          <p:cNvSpPr/>
          <p:nvPr/>
        </p:nvSpPr>
        <p:spPr>
          <a:xfrm>
            <a:off x="5057775" y="2390775"/>
            <a:ext cx="1881485" cy="4572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Transparent pricing metadata</a:t>
            </a:r>
            <a:endParaRPr lang="en-US" sz="1200" dirty="0"/>
          </a:p>
        </p:txBody>
      </p:sp>
      <p:sp>
        <p:nvSpPr>
          <p:cNvPr id="21" name="Text 19"/>
          <p:cNvSpPr/>
          <p:nvPr/>
        </p:nvSpPr>
        <p:spPr>
          <a:xfrm>
            <a:off x="6939260" y="2390775"/>
            <a:ext cx="1299865" cy="4572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street meter context</a:t>
            </a:r>
            <a:endParaRPr lang="en-US" sz="1200" dirty="0"/>
          </a:p>
        </p:txBody>
      </p:sp>
      <p:sp>
        <p:nvSpPr>
          <p:cNvPr id="22" name="Text 20"/>
          <p:cNvSpPr/>
          <p:nvPr/>
        </p:nvSpPr>
        <p:spPr>
          <a:xfrm>
            <a:off x="5057775" y="3286125"/>
            <a:ext cx="913257" cy="2286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Actionability</a:t>
            </a:r>
            <a:endParaRPr lang="en-US" sz="1200" dirty="0"/>
          </a:p>
        </p:txBody>
      </p:sp>
      <p:sp>
        <p:nvSpPr>
          <p:cNvPr id="23" name="Text 21"/>
          <p:cNvSpPr/>
          <p:nvPr/>
        </p:nvSpPr>
        <p:spPr>
          <a:xfrm>
            <a:off x="7258050" y="3286125"/>
            <a:ext cx="1000697" cy="228600"/>
          </a:xfrm>
          <a:prstGeom prst="rect">
            <a:avLst/>
          </a:prstGeom>
          <a:noFill/>
          <a:ln/>
        </p:spPr>
        <p:txBody>
          <a:bodyPr wrap="square" lIns="0" tIns="0" rIns="0" bIns="0" rtlCol="0" anchor="t"/>
          <a:lstStyle/>
          <a:p>
            <a:pPr indent="0" marL="0">
              <a:lnSpc>
                <a:spcPts val="1800"/>
              </a:lnSpc>
              <a:buNone/>
            </a:pPr>
            <a:r>
              <a:rPr lang="en-US" sz="1200" dirty="0">
                <a:solidFill>
                  <a:srgbClr val="FAFAFA"/>
                </a:solidFill>
                <a:latin typeface="DM Sans" pitchFamily="34" charset="0"/>
                <a:ea typeface="DM Sans" pitchFamily="34" charset="-122"/>
                <a:cs typeface="DM Sans" pitchFamily="34" charset="-120"/>
              </a:rPr>
              <a:t>route in 1 click</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181B"/>
        </a:solidFill>
      </p:bgPr>
    </p:bg>
    <p:spTree>
      <p:nvGrpSpPr>
        <p:cNvPr id="1" name=""/>
        <p:cNvGrpSpPr/>
        <p:nvPr/>
      </p:nvGrpSpPr>
      <p:grpSpPr>
        <a:xfrm>
          <a:off x="0" y="0"/>
          <a:ext cx="0" cy="0"/>
          <a:chOff x="0" y="0"/>
          <a:chExt cx="0" cy="0"/>
        </a:xfrm>
      </p:grpSpPr>
      <p:sp>
        <p:nvSpPr>
          <p:cNvPr id="2" name="Text 0"/>
          <p:cNvSpPr/>
          <p:nvPr/>
        </p:nvSpPr>
        <p:spPr>
          <a:xfrm>
            <a:off x="609600" y="-971550"/>
            <a:ext cx="3848100" cy="4781550"/>
          </a:xfrm>
          <a:prstGeom prst="roundRect">
            <a:avLst>
              <a:gd name="adj" fmla="val 5703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3" name="Text 1"/>
          <p:cNvSpPr/>
          <p:nvPr/>
        </p:nvSpPr>
        <p:spPr>
          <a:xfrm>
            <a:off x="4686300" y="-971550"/>
            <a:ext cx="3848100" cy="4781550"/>
          </a:xfrm>
          <a:prstGeom prst="roundRect">
            <a:avLst>
              <a:gd name="adj" fmla="val 57030"/>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4" name="Text 2"/>
          <p:cNvSpPr/>
          <p:nvPr/>
        </p:nvSpPr>
        <p:spPr>
          <a:xfrm>
            <a:off x="4924425" y="1095375"/>
            <a:ext cx="1609725" cy="1085850"/>
          </a:xfrm>
          <a:prstGeom prst="roundRect">
            <a:avLst>
              <a:gd name="adj" fmla="val 134737"/>
            </a:avLst>
          </a:prstGeom>
          <a:solidFill>
            <a:srgbClr val="000000"/>
          </a:solidFill>
          <a:ln w="9525">
            <a:solidFill>
              <a:srgbClr val="000000"/>
            </a:solidFill>
          </a:ln>
        </p:spPr>
        <p:txBody>
          <a:bodyPr wrap="none" lIns="0" tIns="0" rIns="0" bIns="0" rtlCol="0" anchor="ctr">
            <a:normAutofit/>
          </a:bodyPr>
          <a:lstStyle/>
          <a:p>
            <a:pPr indent="0" marL="0">
              <a:buNone/>
            </a:pPr>
            <a:endParaRPr lang="en-US" dirty="0"/>
          </a:p>
        </p:txBody>
      </p:sp>
      <p:sp>
        <p:nvSpPr>
          <p:cNvPr id="5" name="Text 3"/>
          <p:cNvSpPr/>
          <p:nvPr/>
        </p:nvSpPr>
        <p:spPr>
          <a:xfrm>
            <a:off x="6686550" y="1095375"/>
            <a:ext cx="1609725" cy="1085850"/>
          </a:xfrm>
          <a:prstGeom prst="roundRect">
            <a:avLst>
              <a:gd name="adj" fmla="val 134737"/>
            </a:avLst>
          </a:prstGeom>
          <a:solidFill>
            <a:srgbClr val="000000"/>
          </a:solidFill>
          <a:ln w="9525">
            <a:solidFill>
              <a:srgbClr val="000000"/>
            </a:solidFill>
          </a:ln>
        </p:spPr>
        <p:txBody>
          <a:bodyPr wrap="none" lIns="0" tIns="0" rIns="0" bIns="0" rtlCol="0" anchor="ctr">
            <a:normAutofit/>
          </a:bodyPr>
          <a:lstStyle/>
          <a:p>
            <a:pPr indent="0" marL="0">
              <a:buNone/>
            </a:pPr>
            <a:endParaRPr lang="en-US" dirty="0"/>
          </a:p>
        </p:txBody>
      </p:sp>
      <p:sp>
        <p:nvSpPr>
          <p:cNvPr id="6" name="Text 4"/>
          <p:cNvSpPr/>
          <p:nvPr/>
        </p:nvSpPr>
        <p:spPr>
          <a:xfrm>
            <a:off x="609600" y="4038600"/>
            <a:ext cx="1866900" cy="3067050"/>
          </a:xfrm>
          <a:prstGeom prst="roundRect">
            <a:avLst>
              <a:gd name="adj" fmla="val 11755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7" name="Text 5"/>
          <p:cNvSpPr/>
          <p:nvPr/>
        </p:nvSpPr>
        <p:spPr>
          <a:xfrm>
            <a:off x="2628900" y="4038600"/>
            <a:ext cx="1866900" cy="3067050"/>
          </a:xfrm>
          <a:prstGeom prst="roundRect">
            <a:avLst>
              <a:gd name="adj" fmla="val 11755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8" name="Text 6"/>
          <p:cNvSpPr/>
          <p:nvPr/>
        </p:nvSpPr>
        <p:spPr>
          <a:xfrm>
            <a:off x="4648200" y="4038600"/>
            <a:ext cx="1866900" cy="3067050"/>
          </a:xfrm>
          <a:prstGeom prst="roundRect">
            <a:avLst>
              <a:gd name="adj" fmla="val 11755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9" name="Text 7"/>
          <p:cNvSpPr/>
          <p:nvPr/>
        </p:nvSpPr>
        <p:spPr>
          <a:xfrm>
            <a:off x="6667500" y="4038600"/>
            <a:ext cx="1866900" cy="3067050"/>
          </a:xfrm>
          <a:prstGeom prst="roundRect">
            <a:avLst>
              <a:gd name="adj" fmla="val 117551"/>
            </a:avLst>
          </a:prstGeom>
          <a:solidFill>
            <a:srgbClr val="1A1A2E">
              <a:alpha val="80000"/>
            </a:srgbClr>
          </a:solidFill>
          <a:ln w="9525">
            <a:solidFill>
              <a:srgbClr val="FFFFFF"/>
            </a:solidFill>
          </a:ln>
        </p:spPr>
        <p:txBody>
          <a:bodyPr wrap="none" lIns="0" tIns="0" rIns="0" bIns="0" rtlCol="0" anchor="ctr">
            <a:normAutofit/>
          </a:bodyPr>
          <a:lstStyle/>
          <a:p>
            <a:pPr indent="0" marL="0">
              <a:buNone/>
            </a:pPr>
            <a:endParaRPr lang="en-US" dirty="0"/>
          </a:p>
        </p:txBody>
      </p:sp>
      <p:sp>
        <p:nvSpPr>
          <p:cNvPr id="10" name="Text 8"/>
          <p:cNvSpPr/>
          <p:nvPr/>
        </p:nvSpPr>
        <p:spPr>
          <a:xfrm>
            <a:off x="609600" y="-1962150"/>
            <a:ext cx="8083296" cy="685800"/>
          </a:xfrm>
          <a:prstGeom prst="rect">
            <a:avLst/>
          </a:prstGeom>
          <a:noFill/>
          <a:ln/>
        </p:spPr>
        <p:txBody>
          <a:bodyPr wrap="square" lIns="0" tIns="0" rIns="0" bIns="0" rtlCol="0" anchor="t"/>
          <a:lstStyle/>
          <a:p>
            <a:pPr indent="0" marL="0">
              <a:lnSpc>
                <a:spcPts val="5400"/>
              </a:lnSpc>
              <a:buNone/>
            </a:pPr>
            <a:r>
              <a:rPr lang="en-US" sz="3600" dirty="0">
                <a:solidFill>
                  <a:srgbClr val="FAFAFA"/>
                </a:solidFill>
                <a:latin typeface="Archivo Black" pitchFamily="34" charset="0"/>
                <a:ea typeface="Archivo Black" pitchFamily="34" charset="-122"/>
                <a:cs typeface="Archivo Black" pitchFamily="34" charset="-120"/>
              </a:rPr>
              <a:t>Business model for v2</a:t>
            </a:r>
            <a:endParaRPr lang="en-US" sz="3600" dirty="0"/>
          </a:p>
        </p:txBody>
      </p:sp>
      <p:sp>
        <p:nvSpPr>
          <p:cNvPr id="11" name="Text 9"/>
          <p:cNvSpPr/>
          <p:nvPr/>
        </p:nvSpPr>
        <p:spPr>
          <a:xfrm>
            <a:off x="847725" y="-733425"/>
            <a:ext cx="3439287" cy="190500"/>
          </a:xfrm>
          <a:prstGeom prst="rect">
            <a:avLst/>
          </a:prstGeom>
          <a:noFill/>
          <a:ln/>
        </p:spPr>
        <p:txBody>
          <a:bodyPr wrap="square" lIns="0" tIns="0" rIns="0" bIns="0" rtlCol="0" anchor="t"/>
          <a:lstStyle/>
          <a:p>
            <a:pPr indent="0" marL="0">
              <a:lnSpc>
                <a:spcPts val="1500"/>
              </a:lnSpc>
              <a:buNone/>
            </a:pPr>
            <a:r>
              <a:rPr lang="en-US" sz="1050" dirty="0">
                <a:solidFill>
                  <a:srgbClr val="A1A1AA"/>
                </a:solidFill>
                <a:latin typeface="DM Sans" pitchFamily="34" charset="0"/>
                <a:ea typeface="DM Sans" pitchFamily="34" charset="-122"/>
                <a:cs typeface="DM Sans" pitchFamily="34" charset="-120"/>
              </a:rPr>
              <a:t>Marketplace layer</a:t>
            </a:r>
            <a:endParaRPr lang="en-US" sz="1050" dirty="0"/>
          </a:p>
        </p:txBody>
      </p:sp>
      <p:sp>
        <p:nvSpPr>
          <p:cNvPr id="12" name="Text 10"/>
          <p:cNvSpPr/>
          <p:nvPr/>
        </p:nvSpPr>
        <p:spPr>
          <a:xfrm>
            <a:off x="847725" y="-428625"/>
            <a:ext cx="3371850" cy="609600"/>
          </a:xfrm>
          <a:prstGeom prst="rect">
            <a:avLst/>
          </a:prstGeom>
          <a:noFill/>
          <a:ln/>
        </p:spPr>
        <p:txBody>
          <a:bodyPr wrap="square" lIns="0" tIns="0" rIns="0" bIns="0" rtlCol="0" anchor="t"/>
          <a:lstStyle/>
          <a:p>
            <a:pPr indent="0" marL="0">
              <a:lnSpc>
                <a:spcPts val="2400"/>
              </a:lnSpc>
              <a:buNone/>
            </a:pPr>
            <a:r>
              <a:rPr lang="en-US" sz="1800" b="1" dirty="0">
                <a:solidFill>
                  <a:srgbClr val="FAFAFA"/>
                </a:solidFill>
                <a:latin typeface="DM Sans" pitchFamily="34" charset="0"/>
                <a:ea typeface="DM Sans" pitchFamily="34" charset="-122"/>
                <a:cs typeface="DM Sans" pitchFamily="34" charset="-120"/>
              </a:rPr>
              <a:t>Compare meter + app inventory</a:t>
            </a:r>
            <a:endParaRPr lang="en-US" sz="1800" dirty="0"/>
          </a:p>
        </p:txBody>
      </p:sp>
      <p:sp>
        <p:nvSpPr>
          <p:cNvPr id="13" name="Text 11"/>
          <p:cNvSpPr/>
          <p:nvPr/>
        </p:nvSpPr>
        <p:spPr>
          <a:xfrm>
            <a:off x="847725" y="295275"/>
            <a:ext cx="3371850" cy="1600200"/>
          </a:xfrm>
          <a:prstGeom prst="rect">
            <a:avLst/>
          </a:prstGeom>
          <a:noFill/>
          <a:ln/>
        </p:spPr>
        <p:txBody>
          <a:bodyPr wrap="square" lIns="0" tIns="0" rIns="0" bIns="0" rtlCol="0" anchor="t"/>
          <a:lstStyle/>
          <a:p>
            <a:pPr indent="0" marL="0">
              <a:lnSpc>
                <a:spcPts val="1800"/>
              </a:lnSpc>
              <a:buNone/>
            </a:pPr>
            <a:r>
              <a:rPr lang="en-US" sz="1200" dirty="0">
                <a:solidFill>
                  <a:srgbClr val="D4D4D8"/>
                </a:solidFill>
                <a:latin typeface="DM Sans" pitchFamily="34" charset="0"/>
                <a:ea typeface="DM Sans" pitchFamily="34" charset="-122"/>
                <a:cs typeface="DM Sans" pitchFamily="34" charset="-120"/>
              </a:rPr>
              <a:t>Version 2 expands beyond meter data to integrate separate datasets for accessible parking, EV parking, and parking rules, then compares marketplace inventory to rank nearby options by distance, price, and constraints so the user gets the optimal parking price with less search friction.</a:t>
            </a:r>
            <a:endParaRPr lang="en-US" sz="1200" dirty="0"/>
          </a:p>
        </p:txBody>
      </p:sp>
      <p:sp>
        <p:nvSpPr>
          <p:cNvPr id="14" name="Text 12"/>
          <p:cNvSpPr/>
          <p:nvPr/>
        </p:nvSpPr>
        <p:spPr>
          <a:xfrm>
            <a:off x="847725" y="2047875"/>
            <a:ext cx="3371850" cy="1524000"/>
          </a:xfrm>
          <a:prstGeom prst="rect">
            <a:avLst/>
          </a:prstGeom>
          <a:noFill/>
          <a:ln/>
        </p:spPr>
        <p:txBody>
          <a:bodyPr wrap="square" lIns="0" tIns="0" rIns="0" bIns="0" rtlCol="0" anchor="t"/>
          <a:lstStyle/>
          <a:p>
            <a:pPr marL="342900" indent="-342900">
              <a:lnSpc>
                <a:spcPts val="1800"/>
              </a:lnSpc>
              <a:buSzPct val="100000"/>
              <a:buChar char="•"/>
            </a:pPr>
            <a:r>
              <a:rPr lang="en-US" sz="1200" dirty="0">
                <a:solidFill>
                  <a:srgbClr val="D4D4D8"/>
                </a:solidFill>
                <a:latin typeface="DM Sans" pitchFamily="34" charset="0"/>
                <a:ea typeface="DM Sans" pitchFamily="34" charset="-122"/>
                <a:cs typeface="DM Sans" pitchFamily="34" charset="-120"/>
              </a:rPr>
              <a:t>ParkGrid becomes the decision engine, not just a map.</a:t>
            </a:r>
            <a:endParaRPr lang="en-US" sz="1200" dirty="0"/>
          </a:p>
          <a:p>
            <a:pPr marL="342900" indent="-342900">
              <a:lnSpc>
                <a:spcPts val="1800"/>
              </a:lnSpc>
              <a:buSzPct val="100000"/>
              <a:buChar char="•"/>
            </a:pPr>
            <a:r>
              <a:rPr lang="en-US" sz="1200" dirty="0">
                <a:solidFill>
                  <a:srgbClr val="D4D4D8"/>
                </a:solidFill>
                <a:latin typeface="DM Sans" pitchFamily="34" charset="0"/>
                <a:ea typeface="DM Sans" pitchFamily="34" charset="-122"/>
                <a:cs typeface="DM Sans" pitchFamily="34" charset="-120"/>
              </a:rPr>
              <a:t>Users see the best price near destination in one interface.</a:t>
            </a:r>
            <a:endParaRPr lang="en-US" sz="1200" dirty="0"/>
          </a:p>
          <a:p>
            <a:pPr marL="342900" indent="-342900">
              <a:lnSpc>
                <a:spcPts val="1800"/>
              </a:lnSpc>
              <a:buSzPct val="100000"/>
              <a:buChar char="•"/>
            </a:pPr>
            <a:r>
              <a:rPr lang="en-US" sz="1200" dirty="0">
                <a:solidFill>
                  <a:srgbClr val="D4D4D8"/>
                </a:solidFill>
                <a:latin typeface="DM Sans" pitchFamily="34" charset="0"/>
                <a:ea typeface="DM Sans" pitchFamily="34" charset="-122"/>
                <a:cs typeface="DM Sans" pitchFamily="34" charset="-120"/>
              </a:rPr>
              <a:t>Routing still happens in the destination app or Google Maps.</a:t>
            </a:r>
            <a:endParaRPr lang="en-US" sz="1200" dirty="0"/>
          </a:p>
        </p:txBody>
      </p:sp>
      <p:sp>
        <p:nvSpPr>
          <p:cNvPr id="15" name="Text 13"/>
          <p:cNvSpPr/>
          <p:nvPr/>
        </p:nvSpPr>
        <p:spPr>
          <a:xfrm>
            <a:off x="4924425" y="-733425"/>
            <a:ext cx="3439287" cy="190500"/>
          </a:xfrm>
          <a:prstGeom prst="rect">
            <a:avLst/>
          </a:prstGeom>
          <a:noFill/>
          <a:ln/>
        </p:spPr>
        <p:txBody>
          <a:bodyPr wrap="square" lIns="0" tIns="0" rIns="0" bIns="0" rtlCol="0" anchor="t"/>
          <a:lstStyle/>
          <a:p>
            <a:pPr indent="0" marL="0">
              <a:lnSpc>
                <a:spcPts val="1500"/>
              </a:lnSpc>
              <a:buNone/>
            </a:pPr>
            <a:r>
              <a:rPr lang="en-US" sz="1050" dirty="0">
                <a:solidFill>
                  <a:srgbClr val="A1A1AA"/>
                </a:solidFill>
                <a:latin typeface="DM Sans" pitchFamily="34" charset="0"/>
                <a:ea typeface="DM Sans" pitchFamily="34" charset="-122"/>
                <a:cs typeface="DM Sans" pitchFamily="34" charset="-120"/>
              </a:rPr>
              <a:t>Monetization</a:t>
            </a:r>
            <a:endParaRPr lang="en-US" sz="1050" dirty="0"/>
          </a:p>
        </p:txBody>
      </p:sp>
      <p:sp>
        <p:nvSpPr>
          <p:cNvPr id="16" name="Text 14"/>
          <p:cNvSpPr/>
          <p:nvPr/>
        </p:nvSpPr>
        <p:spPr>
          <a:xfrm>
            <a:off x="4924425" y="-428625"/>
            <a:ext cx="3439287" cy="304800"/>
          </a:xfrm>
          <a:prstGeom prst="rect">
            <a:avLst/>
          </a:prstGeom>
          <a:noFill/>
          <a:ln/>
        </p:spPr>
        <p:txBody>
          <a:bodyPr wrap="square" lIns="0" tIns="0" rIns="0" bIns="0" rtlCol="0" anchor="t"/>
          <a:lstStyle/>
          <a:p>
            <a:pPr indent="0" marL="0">
              <a:lnSpc>
                <a:spcPts val="2400"/>
              </a:lnSpc>
              <a:buNone/>
            </a:pPr>
            <a:r>
              <a:rPr lang="en-US" sz="1800" b="1" dirty="0">
                <a:solidFill>
                  <a:srgbClr val="FAFAFA"/>
                </a:solidFill>
                <a:latin typeface="DM Sans" pitchFamily="34" charset="0"/>
                <a:ea typeface="DM Sans" pitchFamily="34" charset="-122"/>
                <a:cs typeface="DM Sans" pitchFamily="34" charset="-120"/>
              </a:rPr>
              <a:t>Referral and affiliate revenue</a:t>
            </a:r>
            <a:endParaRPr lang="en-US" sz="1800" dirty="0"/>
          </a:p>
        </p:txBody>
      </p:sp>
      <p:sp>
        <p:nvSpPr>
          <p:cNvPr id="17" name="Text 15"/>
          <p:cNvSpPr/>
          <p:nvPr/>
        </p:nvSpPr>
        <p:spPr>
          <a:xfrm>
            <a:off x="4924425" y="-9525"/>
            <a:ext cx="3371850" cy="914400"/>
          </a:xfrm>
          <a:prstGeom prst="rect">
            <a:avLst/>
          </a:prstGeom>
          <a:noFill/>
          <a:ln/>
        </p:spPr>
        <p:txBody>
          <a:bodyPr wrap="square" lIns="0" tIns="0" rIns="0" bIns="0" rtlCol="0" anchor="t"/>
          <a:lstStyle/>
          <a:p>
            <a:pPr indent="0" marL="0">
              <a:lnSpc>
                <a:spcPts val="1800"/>
              </a:lnSpc>
              <a:buNone/>
            </a:pPr>
            <a:r>
              <a:rPr lang="en-US" sz="1200" dirty="0">
                <a:solidFill>
                  <a:srgbClr val="D4D4D8"/>
                </a:solidFill>
                <a:latin typeface="DM Sans" pitchFamily="34" charset="0"/>
                <a:ea typeface="DM Sans" pitchFamily="34" charset="-122"/>
                <a:cs typeface="DM Sans" pitchFamily="34" charset="-120"/>
              </a:rPr>
              <a:t>Monetization is simple: ParkGrid sends high-intent users to booking partners and earns referral or affiliate revenue when a parking reservation converts.</a:t>
            </a:r>
            <a:endParaRPr lang="en-US" sz="1200" dirty="0"/>
          </a:p>
        </p:txBody>
      </p:sp>
      <p:sp>
        <p:nvSpPr>
          <p:cNvPr id="18" name="Text 16"/>
          <p:cNvSpPr/>
          <p:nvPr/>
        </p:nvSpPr>
        <p:spPr>
          <a:xfrm>
            <a:off x="5086350" y="1257300"/>
            <a:ext cx="1311593" cy="190500"/>
          </a:xfrm>
          <a:prstGeom prst="rect">
            <a:avLst/>
          </a:prstGeom>
          <a:noFill/>
          <a:ln/>
        </p:spPr>
        <p:txBody>
          <a:bodyPr wrap="square" lIns="0" tIns="0" rIns="0" bIns="0" rtlCol="0" anchor="t"/>
          <a:lstStyle/>
          <a:p>
            <a:pPr indent="0" marL="0">
              <a:lnSpc>
                <a:spcPts val="1500"/>
              </a:lnSpc>
              <a:buNone/>
            </a:pPr>
            <a:r>
              <a:rPr lang="en-US" sz="1050" dirty="0">
                <a:solidFill>
                  <a:srgbClr val="A1A1AA"/>
                </a:solidFill>
                <a:latin typeface="DM Sans" pitchFamily="34" charset="0"/>
                <a:ea typeface="DM Sans" pitchFamily="34" charset="-122"/>
                <a:cs typeface="DM Sans" pitchFamily="34" charset="-120"/>
              </a:rPr>
              <a:t>Primary revenue</a:t>
            </a:r>
            <a:endParaRPr lang="en-US" sz="1050" dirty="0"/>
          </a:p>
        </p:txBody>
      </p:sp>
      <p:sp>
        <p:nvSpPr>
          <p:cNvPr id="19" name="Text 17"/>
          <p:cNvSpPr/>
          <p:nvPr/>
        </p:nvSpPr>
        <p:spPr>
          <a:xfrm>
            <a:off x="5086350" y="1485900"/>
            <a:ext cx="1285875" cy="533400"/>
          </a:xfrm>
          <a:prstGeom prst="rect">
            <a:avLst/>
          </a:prstGeom>
          <a:noFill/>
          <a:ln/>
        </p:spPr>
        <p:txBody>
          <a:bodyPr wrap="square" lIns="0" tIns="0" rIns="0" bIns="0" rtlCol="0" anchor="t"/>
          <a:lstStyle/>
          <a:p>
            <a:pPr indent="0" marL="0">
              <a:lnSpc>
                <a:spcPts val="2100"/>
              </a:lnSpc>
              <a:buNone/>
            </a:pPr>
            <a:r>
              <a:rPr lang="en-US" sz="1500" b="1" dirty="0">
                <a:solidFill>
                  <a:srgbClr val="FAFAFA"/>
                </a:solidFill>
                <a:latin typeface="DM Sans" pitchFamily="34" charset="0"/>
                <a:ea typeface="DM Sans" pitchFamily="34" charset="-122"/>
                <a:cs typeface="DM Sans" pitchFamily="34" charset="-120"/>
              </a:rPr>
              <a:t>Referral commission</a:t>
            </a:r>
            <a:endParaRPr lang="en-US" sz="1500" dirty="0"/>
          </a:p>
        </p:txBody>
      </p:sp>
      <p:sp>
        <p:nvSpPr>
          <p:cNvPr id="20" name="Text 18"/>
          <p:cNvSpPr/>
          <p:nvPr/>
        </p:nvSpPr>
        <p:spPr>
          <a:xfrm>
            <a:off x="6848475" y="1257300"/>
            <a:ext cx="1311593" cy="190500"/>
          </a:xfrm>
          <a:prstGeom prst="rect">
            <a:avLst/>
          </a:prstGeom>
          <a:noFill/>
          <a:ln/>
        </p:spPr>
        <p:txBody>
          <a:bodyPr wrap="square" lIns="0" tIns="0" rIns="0" bIns="0" rtlCol="0" anchor="t"/>
          <a:lstStyle/>
          <a:p>
            <a:pPr indent="0" marL="0">
              <a:lnSpc>
                <a:spcPts val="1500"/>
              </a:lnSpc>
              <a:buNone/>
            </a:pPr>
            <a:r>
              <a:rPr lang="en-US" sz="1050" dirty="0">
                <a:solidFill>
                  <a:srgbClr val="A1A1AA"/>
                </a:solidFill>
                <a:latin typeface="DM Sans" pitchFamily="34" charset="0"/>
                <a:ea typeface="DM Sans" pitchFamily="34" charset="-122"/>
                <a:cs typeface="DM Sans" pitchFamily="34" charset="-120"/>
              </a:rPr>
              <a:t>Secondary upside</a:t>
            </a:r>
            <a:endParaRPr lang="en-US" sz="1050" dirty="0"/>
          </a:p>
        </p:txBody>
      </p:sp>
      <p:sp>
        <p:nvSpPr>
          <p:cNvPr id="21" name="Text 19"/>
          <p:cNvSpPr/>
          <p:nvPr/>
        </p:nvSpPr>
        <p:spPr>
          <a:xfrm>
            <a:off x="6848475" y="1485900"/>
            <a:ext cx="1285875" cy="533400"/>
          </a:xfrm>
          <a:prstGeom prst="rect">
            <a:avLst/>
          </a:prstGeom>
          <a:noFill/>
          <a:ln/>
        </p:spPr>
        <p:txBody>
          <a:bodyPr wrap="square" lIns="0" tIns="0" rIns="0" bIns="0" rtlCol="0" anchor="t"/>
          <a:lstStyle/>
          <a:p>
            <a:pPr indent="0" marL="0">
              <a:lnSpc>
                <a:spcPts val="2100"/>
              </a:lnSpc>
              <a:buNone/>
            </a:pPr>
            <a:r>
              <a:rPr lang="en-US" sz="1500" b="1" dirty="0">
                <a:solidFill>
                  <a:srgbClr val="FAFAFA"/>
                </a:solidFill>
                <a:latin typeface="DM Sans" pitchFamily="34" charset="0"/>
                <a:ea typeface="DM Sans" pitchFamily="34" charset="-122"/>
                <a:cs typeface="DM Sans" pitchFamily="34" charset="-120"/>
              </a:rPr>
              <a:t>Lead-gen partnerships</a:t>
            </a:r>
            <a:endParaRPr lang="en-US" sz="1500" dirty="0"/>
          </a:p>
        </p:txBody>
      </p:sp>
      <p:sp>
        <p:nvSpPr>
          <p:cNvPr id="22" name="Text 20"/>
          <p:cNvSpPr/>
          <p:nvPr/>
        </p:nvSpPr>
        <p:spPr>
          <a:xfrm>
            <a:off x="847725" y="4276725"/>
            <a:ext cx="1418463"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1</a:t>
            </a:r>
            <a:endParaRPr lang="en-US" sz="2250" dirty="0"/>
          </a:p>
        </p:txBody>
      </p:sp>
      <p:sp>
        <p:nvSpPr>
          <p:cNvPr id="23" name="Text 21"/>
          <p:cNvSpPr/>
          <p:nvPr/>
        </p:nvSpPr>
        <p:spPr>
          <a:xfrm>
            <a:off x="847725" y="4695825"/>
            <a:ext cx="1390650" cy="4572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Search nearby inventory</a:t>
            </a:r>
            <a:endParaRPr lang="en-US" sz="1200" dirty="0"/>
          </a:p>
        </p:txBody>
      </p:sp>
      <p:sp>
        <p:nvSpPr>
          <p:cNvPr id="24" name="Text 22"/>
          <p:cNvSpPr/>
          <p:nvPr/>
        </p:nvSpPr>
        <p:spPr>
          <a:xfrm>
            <a:off x="847725" y="5153025"/>
            <a:ext cx="1390650" cy="571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Meters plus participating parking apps.</a:t>
            </a:r>
            <a:endParaRPr lang="en-US" sz="1050" dirty="0"/>
          </a:p>
        </p:txBody>
      </p:sp>
      <p:sp>
        <p:nvSpPr>
          <p:cNvPr id="25" name="Text 23"/>
          <p:cNvSpPr/>
          <p:nvPr/>
        </p:nvSpPr>
        <p:spPr>
          <a:xfrm>
            <a:off x="2867025" y="4276725"/>
            <a:ext cx="1418463"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2</a:t>
            </a:r>
            <a:endParaRPr lang="en-US" sz="2250" dirty="0"/>
          </a:p>
        </p:txBody>
      </p:sp>
      <p:sp>
        <p:nvSpPr>
          <p:cNvPr id="26" name="Text 24"/>
          <p:cNvSpPr/>
          <p:nvPr/>
        </p:nvSpPr>
        <p:spPr>
          <a:xfrm>
            <a:off x="2867025" y="4695825"/>
            <a:ext cx="1418463" cy="2286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Rank best option</a:t>
            </a:r>
            <a:endParaRPr lang="en-US" sz="1200" dirty="0"/>
          </a:p>
        </p:txBody>
      </p:sp>
      <p:sp>
        <p:nvSpPr>
          <p:cNvPr id="27" name="Text 25"/>
          <p:cNvSpPr/>
          <p:nvPr/>
        </p:nvSpPr>
        <p:spPr>
          <a:xfrm>
            <a:off x="2867025" y="4924425"/>
            <a:ext cx="1390650" cy="571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Optimal parking price near the user destination.</a:t>
            </a:r>
            <a:endParaRPr lang="en-US" sz="1050" dirty="0"/>
          </a:p>
        </p:txBody>
      </p:sp>
      <p:sp>
        <p:nvSpPr>
          <p:cNvPr id="28" name="Text 26"/>
          <p:cNvSpPr/>
          <p:nvPr/>
        </p:nvSpPr>
        <p:spPr>
          <a:xfrm>
            <a:off x="4886325" y="4276725"/>
            <a:ext cx="1418463"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3</a:t>
            </a:r>
            <a:endParaRPr lang="en-US" sz="2250" dirty="0"/>
          </a:p>
        </p:txBody>
      </p:sp>
      <p:sp>
        <p:nvSpPr>
          <p:cNvPr id="29" name="Text 27"/>
          <p:cNvSpPr/>
          <p:nvPr/>
        </p:nvSpPr>
        <p:spPr>
          <a:xfrm>
            <a:off x="4886325" y="4695825"/>
            <a:ext cx="1390650" cy="4572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Embed into other apps</a:t>
            </a:r>
            <a:endParaRPr lang="en-US" sz="1200" dirty="0"/>
          </a:p>
        </p:txBody>
      </p:sp>
      <p:sp>
        <p:nvSpPr>
          <p:cNvPr id="30" name="Text 28"/>
          <p:cNvSpPr/>
          <p:nvPr/>
        </p:nvSpPr>
        <p:spPr>
          <a:xfrm>
            <a:off x="4886325" y="5153025"/>
            <a:ext cx="1390650" cy="1714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Parking data can power event and city workflows, such as a Boston Tech Week calendar that shows standard, accessible, EV, and rule-aware parking options beside event details.</a:t>
            </a:r>
            <a:endParaRPr lang="en-US" sz="1050" dirty="0"/>
          </a:p>
        </p:txBody>
      </p:sp>
      <p:sp>
        <p:nvSpPr>
          <p:cNvPr id="31" name="Text 29"/>
          <p:cNvSpPr/>
          <p:nvPr/>
        </p:nvSpPr>
        <p:spPr>
          <a:xfrm>
            <a:off x="6905625" y="4276725"/>
            <a:ext cx="1418463" cy="342900"/>
          </a:xfrm>
          <a:prstGeom prst="rect">
            <a:avLst/>
          </a:prstGeom>
          <a:noFill/>
          <a:ln/>
        </p:spPr>
        <p:txBody>
          <a:bodyPr wrap="square" lIns="0" tIns="0" rIns="0" bIns="0" rtlCol="0" anchor="t"/>
          <a:lstStyle/>
          <a:p>
            <a:pPr indent="0" marL="0">
              <a:lnSpc>
                <a:spcPts val="2700"/>
              </a:lnSpc>
              <a:buNone/>
            </a:pPr>
            <a:r>
              <a:rPr lang="en-US" sz="2250" dirty="0">
                <a:solidFill>
                  <a:srgbClr val="FAFAFA"/>
                </a:solidFill>
                <a:latin typeface="DM Sans" pitchFamily="34" charset="0"/>
                <a:ea typeface="DM Sans" pitchFamily="34" charset="-122"/>
                <a:cs typeface="DM Sans" pitchFamily="34" charset="-120"/>
              </a:rPr>
              <a:t>4</a:t>
            </a:r>
            <a:endParaRPr lang="en-US" sz="2250" dirty="0"/>
          </a:p>
        </p:txBody>
      </p:sp>
      <p:sp>
        <p:nvSpPr>
          <p:cNvPr id="32" name="Text 30"/>
          <p:cNvSpPr/>
          <p:nvPr/>
        </p:nvSpPr>
        <p:spPr>
          <a:xfrm>
            <a:off x="6905625" y="4695825"/>
            <a:ext cx="1390650" cy="457200"/>
          </a:xfrm>
          <a:prstGeom prst="rect">
            <a:avLst/>
          </a:prstGeom>
          <a:noFill/>
          <a:ln/>
        </p:spPr>
        <p:txBody>
          <a:bodyPr wrap="square" lIns="0" tIns="0" rIns="0" bIns="0" rtlCol="0" anchor="t"/>
          <a:lstStyle/>
          <a:p>
            <a:pPr indent="0" marL="0">
              <a:lnSpc>
                <a:spcPts val="1800"/>
              </a:lnSpc>
              <a:buNone/>
            </a:pPr>
            <a:r>
              <a:rPr lang="en-US" sz="1200" b="1" dirty="0">
                <a:solidFill>
                  <a:srgbClr val="FAFAFA"/>
                </a:solidFill>
                <a:latin typeface="DM Sans" pitchFamily="34" charset="0"/>
                <a:ea typeface="DM Sans" pitchFamily="34" charset="-122"/>
                <a:cs typeface="DM Sans" pitchFamily="34" charset="-120"/>
              </a:rPr>
              <a:t>Earn partner revenue</a:t>
            </a:r>
            <a:endParaRPr lang="en-US" sz="1200" dirty="0"/>
          </a:p>
        </p:txBody>
      </p:sp>
      <p:sp>
        <p:nvSpPr>
          <p:cNvPr id="33" name="Text 31"/>
          <p:cNvSpPr/>
          <p:nvPr/>
        </p:nvSpPr>
        <p:spPr>
          <a:xfrm>
            <a:off x="6905625" y="5153025"/>
            <a:ext cx="1390650" cy="952500"/>
          </a:xfrm>
          <a:prstGeom prst="rect">
            <a:avLst/>
          </a:prstGeom>
          <a:noFill/>
          <a:ln/>
        </p:spPr>
        <p:txBody>
          <a:bodyPr wrap="square" lIns="0" tIns="0" rIns="0" bIns="0" rtlCol="0" anchor="t"/>
          <a:lstStyle/>
          <a:p>
            <a:pPr indent="0" marL="0">
              <a:lnSpc>
                <a:spcPts val="1500"/>
              </a:lnSpc>
              <a:buNone/>
            </a:pPr>
            <a:r>
              <a:rPr lang="en-US" sz="1050" dirty="0">
                <a:solidFill>
                  <a:srgbClr val="D4D4D8"/>
                </a:solidFill>
                <a:latin typeface="DM Sans" pitchFamily="34" charset="0"/>
                <a:ea typeface="DM Sans" pitchFamily="34" charset="-122"/>
                <a:cs typeface="DM Sans" pitchFamily="34" charset="-120"/>
              </a:rPr>
              <a:t>ParkGrid earns when users convert through partner links or integrated booking handoffs.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8181B"/>
        </a:solidFill>
      </p:bgPr>
    </p:bg>
    <p:spTree>
      <p:nvGrpSpPr>
        <p:cNvPr id="1" name=""/>
        <p:cNvGrpSpPr/>
        <p:nvPr/>
      </p:nvGrpSpPr>
      <p:grpSpPr>
        <a:xfrm>
          <a:off x="0" y="0"/>
          <a:ext cx="0" cy="0"/>
          <a:chOff x="0" y="0"/>
          <a:chExt cx="0" cy="0"/>
        </a:xfrm>
      </p:grpSpPr>
      <p:sp>
        <p:nvSpPr>
          <p:cNvPr id="2" name="Text 0"/>
          <p:cNvSpPr/>
          <p:nvPr/>
        </p:nvSpPr>
        <p:spPr>
          <a:xfrm>
            <a:off x="530352" y="464939"/>
            <a:ext cx="8083296" cy="228600"/>
          </a:xfrm>
          <a:prstGeom prst="rect">
            <a:avLst/>
          </a:prstGeom>
          <a:noFill/>
          <a:ln/>
        </p:spPr>
        <p:txBody>
          <a:bodyPr wrap="square" lIns="0" tIns="0" rIns="0" bIns="0" rtlCol="0" anchor="t"/>
          <a:lstStyle/>
          <a:p>
            <a:pPr algn="ctr" indent="0" marL="0">
              <a:lnSpc>
                <a:spcPts val="1800"/>
              </a:lnSpc>
              <a:buNone/>
            </a:pPr>
            <a:r>
              <a:rPr lang="en-US" sz="1200" dirty="0">
                <a:solidFill>
                  <a:srgbClr val="A1A1AA"/>
                </a:solidFill>
                <a:latin typeface="DM Sans" pitchFamily="34" charset="0"/>
                <a:ea typeface="DM Sans" pitchFamily="34" charset="-122"/>
                <a:cs typeface="DM Sans" pitchFamily="34" charset="-120"/>
              </a:rPr>
              <a:t>Why this matters</a:t>
            </a:r>
            <a:endParaRPr lang="en-US" sz="1200" dirty="0"/>
          </a:p>
        </p:txBody>
      </p:sp>
      <p:sp>
        <p:nvSpPr>
          <p:cNvPr id="3" name="Text 1"/>
          <p:cNvSpPr/>
          <p:nvPr/>
        </p:nvSpPr>
        <p:spPr>
          <a:xfrm>
            <a:off x="609600" y="845939"/>
            <a:ext cx="7924800" cy="2880271"/>
          </a:xfrm>
          <a:prstGeom prst="rect">
            <a:avLst/>
          </a:prstGeom>
          <a:noFill/>
          <a:ln/>
        </p:spPr>
        <p:txBody>
          <a:bodyPr wrap="square" lIns="0" tIns="0" rIns="0" bIns="0" rtlCol="0" anchor="t"/>
          <a:lstStyle/>
          <a:p>
            <a:pPr algn="ctr" indent="0" marL="0">
              <a:lnSpc>
                <a:spcPts val="7560"/>
              </a:lnSpc>
              <a:buNone/>
            </a:pPr>
            <a:r>
              <a:rPr lang="en-US" sz="5040" dirty="0">
                <a:solidFill>
                  <a:srgbClr val="F97316"/>
                </a:solidFill>
                <a:latin typeface="Archivo Black" pitchFamily="34" charset="0"/>
                <a:ea typeface="Archivo Black" pitchFamily="34" charset="-122"/>
                <a:cs typeface="Archivo Black" pitchFamily="34" charset="-120"/>
              </a:rPr>
              <a:t>From parking finder to parking marketplace gateway</a:t>
            </a:r>
            <a:endParaRPr lang="en-US" sz="5040" dirty="0"/>
          </a:p>
        </p:txBody>
      </p:sp>
      <p:sp>
        <p:nvSpPr>
          <p:cNvPr id="4" name="Text 2"/>
          <p:cNvSpPr/>
          <p:nvPr/>
        </p:nvSpPr>
        <p:spPr>
          <a:xfrm>
            <a:off x="914400" y="3878610"/>
            <a:ext cx="7315200" cy="800100"/>
          </a:xfrm>
          <a:prstGeom prst="rect">
            <a:avLst/>
          </a:prstGeom>
          <a:noFill/>
          <a:ln/>
        </p:spPr>
        <p:txBody>
          <a:bodyPr wrap="square" lIns="0" tIns="0" rIns="0" bIns="0" rtlCol="0" anchor="t"/>
          <a:lstStyle/>
          <a:p>
            <a:pPr algn="ctr" indent="0" marL="0">
              <a:lnSpc>
                <a:spcPts val="2100"/>
              </a:lnSpc>
              <a:buNone/>
            </a:pPr>
            <a:r>
              <a:rPr lang="en-US" sz="1500" dirty="0">
                <a:solidFill>
                  <a:srgbClr val="D4D4D8"/>
                </a:solidFill>
                <a:latin typeface="DM Sans" pitchFamily="34" charset="0"/>
                <a:ea typeface="DM Sans" pitchFamily="34" charset="-122"/>
                <a:cs typeface="DM Sans" pitchFamily="34" charset="-120"/>
              </a:rPr>
              <a:t>ParkGrid already proves the UX for fast parking discovery. The next step is to aggregate broader inventory, optimize by price, and monetize high-intent traffic through partner referrals.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2026-06-15T00:39:51Z</dcterms:created>
  <dcterms:modified xsi:type="dcterms:W3CDTF">2026-06-15T00:39:51Z</dcterms:modified>
</cp:coreProperties>
</file>